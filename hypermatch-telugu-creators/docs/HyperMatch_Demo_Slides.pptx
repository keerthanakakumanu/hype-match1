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27432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400" b="1">
                <a:solidFill>
                  <a:srgbClr val="1E211E"/>
                </a:solidFill>
                <a:latin typeface="Aptos"/>
              </a:rPr>
              <a:t>HYPERMATCH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6766560" cy="20116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4200" b="1">
                <a:solidFill>
                  <a:srgbClr val="1E211E"/>
                </a:solidFill>
                <a:latin typeface="Aptos"/>
              </a:rPr>
              <a:t>The AI creator
marketplace.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621792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900" b="0">
                <a:solidFill>
                  <a:srgbClr val="6E6C63"/>
                </a:solidFill>
                <a:latin typeface="Aptos"/>
              </a:rPr>
              <a:t>From creative discovery to production delivery — with tools, workflows, and usage rights in 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960120"/>
            <a:ext cx="3383280" cy="4343400"/>
          </a:xfrm>
          <a:prstGeom prst="roundRect">
            <a:avLst/>
          </a:prstGeom>
          <a:solidFill>
            <a:srgbClr val="FF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0" y="1508760"/>
            <a:ext cx="2468880" cy="3200400"/>
          </a:xfrm>
          <a:prstGeom prst="round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1080" y="2194560"/>
            <a:ext cx="1645920" cy="1097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5600" b="1">
                <a:solidFill>
                  <a:srgbClr val="1E211E"/>
                </a:solidFill>
                <a:latin typeface="Aptos"/>
              </a:rPr>
              <a:t>H✦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89320"/>
            <a:ext cx="50292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1">
                <a:solidFill>
                  <a:srgbClr val="FF7A45"/>
                </a:solidFill>
                <a:latin typeface="Aptos"/>
              </a:rPr>
              <a:t>DISCOVER  •  BRIEF  •  DELIVER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6126480"/>
            <a:ext cx="2743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00" b="0">
                <a:solidFill>
                  <a:srgbClr val="6E6C63"/>
                </a:solidFill>
                <a:latin typeface="Aptos"/>
              </a:rPr>
              <a:t>Hackathon prototype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8288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1">
                <a:solidFill>
                  <a:srgbClr val="FF7A45"/>
                </a:solidFill>
                <a:latin typeface="Aptos"/>
              </a:rPr>
              <a:t>THE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3000" b="1">
                <a:solidFill>
                  <a:srgbClr val="1E211E"/>
                </a:solidFill>
                <a:latin typeface="Aptos"/>
              </a:rPr>
              <a:t>AI work needs more than a social profile.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57400"/>
            <a:ext cx="342900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5486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000" b="1">
                <a:solidFill>
                  <a:srgbClr val="FF7A45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274320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100" b="1">
                <a:solidFill>
                  <a:srgbClr val="1E211E"/>
                </a:solidFill>
                <a:latin typeface="Aptos"/>
              </a:rPr>
              <a:t>Discover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2834640" cy="10515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400" b="0">
                <a:solidFill>
                  <a:srgbClr val="6E6C63"/>
                </a:solidFill>
                <a:latin typeface="Aptos"/>
              </a:rPr>
              <a:t>Find AI filmmakers, animators, and generative artists by specialization, skills, tools, and formats.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057400"/>
            <a:ext cx="342900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331720"/>
            <a:ext cx="5486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000" b="1">
                <a:solidFill>
                  <a:srgbClr val="FF7A45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926080"/>
            <a:ext cx="274320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100" b="1">
                <a:solidFill>
                  <a:srgbClr val="1E211E"/>
                </a:solidFill>
                <a:latin typeface="Aptos"/>
              </a:rPr>
              <a:t>Evaluate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566160"/>
            <a:ext cx="2834640" cy="10515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400" b="0">
                <a:solidFill>
                  <a:srgbClr val="6E6C63"/>
                </a:solidFill>
                <a:latin typeface="Aptos"/>
              </a:rPr>
              <a:t>See portfolio samples alongside tool/model tags, workflow notes, and claim-specific trust signals.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2057400"/>
            <a:ext cx="342900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331720"/>
            <a:ext cx="5486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000" b="1">
                <a:solidFill>
                  <a:srgbClr val="FF7A45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926080"/>
            <a:ext cx="274320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100" b="1">
                <a:solidFill>
                  <a:srgbClr val="1E211E"/>
                </a:solidFill>
                <a:latin typeface="Aptos"/>
              </a:rPr>
              <a:t>Engage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566160"/>
            <a:ext cx="2834640" cy="10515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400" b="0">
                <a:solidFill>
                  <a:srgbClr val="6E6C63"/>
                </a:solidFill>
                <a:latin typeface="Aptos"/>
              </a:rPr>
              <a:t>Turn a rough idea into a structured brief, then track production, revisions, and delivery.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897880"/>
            <a:ext cx="100584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1">
                <a:solidFill>
                  <a:srgbClr val="1E211E"/>
                </a:solidFill>
                <a:latin typeface="Aptos"/>
              </a:rPr>
              <a:t>Built around the challenge brief: portfolios, structured briefs, discovery, and UX.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2743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1">
                <a:solidFill>
                  <a:srgbClr val="FF7A45"/>
                </a:solidFill>
                <a:latin typeface="Aptos"/>
              </a:rPr>
              <a:t>PRODUCT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900" b="1">
                <a:solidFill>
                  <a:srgbClr val="1E211E"/>
                </a:solidFill>
                <a:latin typeface="Aptos"/>
              </a:rPr>
              <a:t>One coherent flow. Five judging priorities.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57400"/>
            <a:ext cx="2514600" cy="2560320"/>
          </a:xfrm>
          <a:prstGeom prst="roundRect">
            <a:avLst/>
          </a:prstGeom>
          <a:solidFill>
            <a:srgbClr val="FF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286000"/>
            <a:ext cx="45720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400" b="1">
                <a:solidFill>
                  <a:srgbClr val="1E211E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88920"/>
            <a:ext cx="21031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000" b="1">
                <a:solidFill>
                  <a:srgbClr val="1E211E"/>
                </a:solidFill>
                <a:latin typeface="Aptos"/>
              </a:rPr>
              <a:t>Discover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46120"/>
            <a:ext cx="2103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00" b="1">
                <a:solidFill>
                  <a:srgbClr val="1E211E"/>
                </a:solidFill>
                <a:latin typeface="Aptos"/>
              </a:rPr>
              <a:t>Search + filters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57600"/>
            <a:ext cx="210312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1E211E"/>
                </a:solidFill>
                <a:latin typeface="Aptos"/>
              </a:rPr>
              <a:t>Skills · tools · specialization · aspect ratio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38728" y="2057400"/>
            <a:ext cx="2514600" cy="2560320"/>
          </a:xfrm>
          <a:prstGeom prst="round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8" y="2286000"/>
            <a:ext cx="45720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400" b="1">
                <a:solidFill>
                  <a:srgbClr val="1E211E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8" y="2788920"/>
            <a:ext cx="21031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000" b="1">
                <a:solidFill>
                  <a:srgbClr val="1E211E"/>
                </a:solidFill>
                <a:latin typeface="Aptos"/>
              </a:rPr>
              <a:t>Inspect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8" y="3246120"/>
            <a:ext cx="2103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00" b="1">
                <a:solidFill>
                  <a:srgbClr val="1E211E"/>
                </a:solidFill>
                <a:latin typeface="Aptos"/>
              </a:rPr>
              <a:t>AI portfolio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3657600"/>
            <a:ext cx="210312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1E211E"/>
                </a:solidFill>
                <a:latin typeface="Aptos"/>
              </a:rPr>
              <a:t>Samples · workflow · rights · trust signals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91656" y="2057400"/>
            <a:ext cx="2514600" cy="2560320"/>
          </a:xfrm>
          <a:prstGeom prst="roundRect">
            <a:avLst/>
          </a:prstGeom>
          <a:solidFill>
            <a:srgbClr val="FFE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74536" y="2286000"/>
            <a:ext cx="45720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400" b="1">
                <a:solidFill>
                  <a:srgbClr val="1E211E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4536" y="2788920"/>
            <a:ext cx="21031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000" b="1">
                <a:solidFill>
                  <a:srgbClr val="1E211E"/>
                </a:solidFill>
                <a:latin typeface="Aptos"/>
              </a:rPr>
              <a:t>Brief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4536" y="3246120"/>
            <a:ext cx="2103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00" b="1">
                <a:solidFill>
                  <a:srgbClr val="1E211E"/>
                </a:solidFill>
                <a:latin typeface="Aptos"/>
              </a:rPr>
              <a:t>Local assistant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4536" y="3657600"/>
            <a:ext cx="210312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1E211E"/>
                </a:solidFill>
                <a:latin typeface="Aptos"/>
              </a:rPr>
              <a:t>Idea → content type, style, format, usage terms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44584" y="2057400"/>
            <a:ext cx="2514600" cy="2560320"/>
          </a:xfrm>
          <a:prstGeom prst="roundRect">
            <a:avLst/>
          </a:prstGeom>
          <a:solidFill>
            <a:srgbClr val="F5B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27463" y="2286000"/>
            <a:ext cx="45720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400" b="1">
                <a:solidFill>
                  <a:srgbClr val="1E211E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27463" y="2788920"/>
            <a:ext cx="21031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000" b="1">
                <a:solidFill>
                  <a:srgbClr val="1E211E"/>
                </a:solidFill>
                <a:latin typeface="Aptos"/>
              </a:rPr>
              <a:t>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27463" y="3246120"/>
            <a:ext cx="2103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00" b="1">
                <a:solidFill>
                  <a:srgbClr val="1E211E"/>
                </a:solidFill>
                <a:latin typeface="Aptos"/>
              </a:rPr>
              <a:t>Engagement stages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27463" y="3657600"/>
            <a:ext cx="210312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1E211E"/>
                </a:solidFill>
                <a:latin typeface="Aptos"/>
              </a:rPr>
              <a:t>Shortlisted → production → revision → delivered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1051560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0">
                <a:solidFill>
                  <a:srgbClr val="6E6C63"/>
                </a:solidFill>
                <a:latin typeface="Aptos"/>
              </a:rPr>
              <a:t>Prototype architecture: React + Vite · localStorage · importable JSON/CSV · no paid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2743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1">
                <a:solidFill>
                  <a:srgbClr val="FF7A45"/>
                </a:solidFill>
                <a:latin typeface="Aptos"/>
              </a:rPr>
              <a:t>TRUST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900" b="1">
                <a:solidFill>
                  <a:srgbClr val="1E211E"/>
                </a:solidFill>
                <a:latin typeface="Aptos"/>
              </a:rPr>
              <a:t>Verification is evidence, not decoration.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512064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240280"/>
            <a:ext cx="43891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000" b="1">
                <a:solidFill>
                  <a:srgbClr val="1E211E"/>
                </a:solidFill>
                <a:latin typeface="Aptos"/>
              </a:rPr>
              <a:t>Claim-specific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80360"/>
            <a:ext cx="4114800" cy="1463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600" b="0">
                <a:solidFill>
                  <a:srgbClr val="6E6C63"/>
                </a:solidFill>
                <a:latin typeface="Aptos"/>
              </a:rPr>
              <a:t>• Tools / models
• Workflow
• Past work
• Commercial-use terms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920240"/>
            <a:ext cx="5029200" cy="3291840"/>
          </a:xfrm>
          <a:prstGeom prst="roundRect">
            <a:avLst/>
          </a:prstGeom>
          <a:solidFill>
            <a:srgbClr val="FFF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2240280"/>
            <a:ext cx="42062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000" b="1">
                <a:solidFill>
                  <a:srgbClr val="1E211E"/>
                </a:solidFill>
                <a:latin typeface="Aptos"/>
              </a:rPr>
              <a:t>Honest prototype boundary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880360"/>
            <a:ext cx="4206240" cy="1463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500" b="0">
                <a:solidFill>
                  <a:srgbClr val="1E211E"/>
                </a:solidFill>
                <a:latin typeface="Aptos"/>
              </a:rPr>
              <a:t>• Seed personas are illustrative
• Artwork is generated in CSS
• Import sourced profiles with evidence
• No claim of 500 verified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15000"/>
            <a:ext cx="107899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1">
                <a:solidFill>
                  <a:srgbClr val="FF7A45"/>
                </a:solidFill>
                <a:latin typeface="Aptos"/>
              </a:rPr>
              <a:t>Real-world rollout: add source provenance, creator consent, rights review, and a shared backend.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2743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1">
                <a:solidFill>
                  <a:srgbClr val="FF7A45"/>
                </a:solidFill>
                <a:latin typeface="Aptos"/>
              </a:rPr>
              <a:t>DEMO +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900" b="1">
                <a:solidFill>
                  <a:srgbClr val="1E211E"/>
                </a:solidFill>
                <a:latin typeface="Aptos"/>
              </a:rPr>
              <a:t>A 3-minute judge walkthrough.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914400" cy="365760"/>
          </a:xfrm>
          <a:prstGeom prst="roundRect">
            <a:avLst/>
          </a:prstGeom>
          <a:solidFill>
            <a:srgbClr val="FF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83664"/>
            <a:ext cx="7315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1">
                <a:solidFill>
                  <a:srgbClr val="1E211E"/>
                </a:solidFill>
                <a:latin typeface="Aptos"/>
              </a:rPr>
              <a:t>00:00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865376"/>
            <a:ext cx="80467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500" b="1">
                <a:solidFill>
                  <a:srgbClr val="1E211E"/>
                </a:solidFill>
                <a:latin typeface="Aptos"/>
              </a:rPr>
              <a:t>Problem + promise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95728"/>
            <a:ext cx="914400" cy="365760"/>
          </a:xfrm>
          <a:prstGeom prst="roundRect">
            <a:avLst/>
          </a:prstGeom>
          <a:solidFill>
            <a:srgbClr val="FF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50592"/>
            <a:ext cx="7315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1">
                <a:solidFill>
                  <a:srgbClr val="1E211E"/>
                </a:solidFill>
                <a:latin typeface="Aptos"/>
              </a:rPr>
              <a:t>00:25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432304"/>
            <a:ext cx="80467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500" b="0">
                <a:solidFill>
                  <a:srgbClr val="1E211E"/>
                </a:solidFill>
                <a:latin typeface="Aptos"/>
              </a:rPr>
              <a:t>Search and filter a creator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962656"/>
            <a:ext cx="914400" cy="365760"/>
          </a:xfrm>
          <a:prstGeom prst="roundRect">
            <a:avLst/>
          </a:prstGeom>
          <a:solidFill>
            <a:srgbClr val="FF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7315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1">
                <a:solidFill>
                  <a:srgbClr val="1E211E"/>
                </a:solidFill>
                <a:latin typeface="Aptos"/>
              </a:rPr>
              <a:t>01:05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999232"/>
            <a:ext cx="80467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500" b="0">
                <a:solidFill>
                  <a:srgbClr val="1E211E"/>
                </a:solidFill>
                <a:latin typeface="Aptos"/>
              </a:rPr>
              <a:t>Inspect portfolio, tools, workflow, trust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529584"/>
            <a:ext cx="914400" cy="365760"/>
          </a:xfrm>
          <a:prstGeom prst="roundRect">
            <a:avLst/>
          </a:prstGeom>
          <a:solidFill>
            <a:srgbClr val="FF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584448"/>
            <a:ext cx="7315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1">
                <a:solidFill>
                  <a:srgbClr val="1E211E"/>
                </a:solidFill>
                <a:latin typeface="Aptos"/>
              </a:rPr>
              <a:t>01:35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566160"/>
            <a:ext cx="80467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500" b="0">
                <a:solidFill>
                  <a:srgbClr val="1E211E"/>
                </a:solidFill>
                <a:latin typeface="Aptos"/>
              </a:rPr>
              <a:t>Generate and save a structured brief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96512"/>
            <a:ext cx="914400" cy="365760"/>
          </a:xfrm>
          <a:prstGeom prst="roundRect">
            <a:avLst/>
          </a:prstGeom>
          <a:solidFill>
            <a:srgbClr val="FF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51376"/>
            <a:ext cx="7315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1">
                <a:solidFill>
                  <a:srgbClr val="1E211E"/>
                </a:solidFill>
                <a:latin typeface="Aptos"/>
              </a:rPr>
              <a:t>02:20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133088"/>
            <a:ext cx="80467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500" b="0">
                <a:solidFill>
                  <a:srgbClr val="1E211E"/>
                </a:solidFill>
                <a:latin typeface="Aptos"/>
              </a:rPr>
              <a:t>Move an engagement through stages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663440"/>
            <a:ext cx="914400" cy="365760"/>
          </a:xfrm>
          <a:prstGeom prst="roundRect">
            <a:avLst/>
          </a:prstGeom>
          <a:solidFill>
            <a:srgbClr val="FF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718303"/>
            <a:ext cx="7315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1">
                <a:solidFill>
                  <a:srgbClr val="1E211E"/>
                </a:solidFill>
                <a:latin typeface="Aptos"/>
              </a:rPr>
              <a:t>02:45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700016"/>
            <a:ext cx="80467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500" b="0">
                <a:solidFill>
                  <a:srgbClr val="1E211E"/>
                </a:solidFill>
                <a:latin typeface="Aptos"/>
              </a:rPr>
              <a:t>Close with honest limitations + roadmap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760720"/>
            <a:ext cx="105156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1">
                <a:solidFill>
                  <a:srgbClr val="FF7A45"/>
                </a:solidFill>
                <a:latin typeface="Aptos"/>
              </a:rPr>
              <a:t>Next: source and verify 500+ records, add authenticated shared storage, and test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